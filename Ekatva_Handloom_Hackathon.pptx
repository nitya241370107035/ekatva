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51560" cy="1051560"/>
          </a:xfrm>
          <a:prstGeom prst="ellipse">
            <a:avLst/>
          </a:prstGeom>
          <a:solidFill>
            <a:srgbClr val="A8553C"/>
          </a:solidFill>
          <a:ln w="15875">
            <a:solidFill>
              <a:srgbClr val="C08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4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</a:t>
            </a:r>
            <a:endParaRPr lang="en-US" sz="1840" dirty="0"/>
          </a:p>
        </p:txBody>
      </p:sp>
      <p:sp>
        <p:nvSpPr>
          <p:cNvPr id="4" name="Shape 2"/>
          <p:cNvSpPr/>
          <p:nvPr/>
        </p:nvSpPr>
        <p:spPr>
          <a:xfrm>
            <a:off x="11137392" y="320040"/>
            <a:ext cx="777240" cy="777240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5EE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37392" y="320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एकत्व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एकत्व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30352" y="2880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EKATVA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33832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every loom becomes part of a larger, stronger weave.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2926080" cy="0"/>
          </a:xfrm>
          <a:prstGeom prst="line">
            <a:avLst/>
          </a:prstGeom>
          <a:noFill/>
          <a:ln w="15875">
            <a:solidFill>
              <a:srgbClr val="C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1605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platform that gives scattered weaving cooperatives the </a:t>
            </a:r>
            <a:pPr indent="0" marL="0">
              <a:buNone/>
            </a:pPr>
            <a:r>
              <a:rPr lang="en-US" sz="1400" b="1" i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unity, voice, and market power</a:t>
            </a:r>
            <a:pPr indent="0" marL="0">
              <a:buNone/>
            </a:pPr>
            <a:r>
              <a:rPr lang="en-US" sz="1400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have been denied for generations.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Team Name]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Hackathon: 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[Hackathon Name]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4892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2C1F16"/>
          </a:solidFill>
          <a:ln w="9525">
            <a:solidFill>
              <a:srgbClr val="C08A2E"/>
            </a:solidFill>
            <a:prstDash val="sysDot"/>
          </a:ln>
        </p:spPr>
      </p:sp>
      <p:sp>
        <p:nvSpPr>
          <p:cNvPr id="13" name="Text 11"/>
          <p:cNvSpPr/>
          <p:nvPr/>
        </p:nvSpPr>
        <p:spPr>
          <a:xfrm>
            <a:off x="7863840" y="502920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thread that unites us is stronger than the forces that divide us.”</a:t>
            </a:r>
            <a:endParaRPr lang="en-US" sz="12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weaver's voice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13739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3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777240" cy="777240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5EE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37392" y="320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एकत्व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Silent Struggle — Radhika's Morning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5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step into the life of one weaver, to feel the weight the data hides.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7040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AM, Varanasi — Radhika sits at her loom.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years of muscle memory guide her fingers through a Banarasi silk saree bound for a Delhi showroom.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will earn ₹1,500. The saree will sell for ₹8,000 — the middleman keeps the difference.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story — the reality of 2.4 million Indian handloom artisans.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Cooperatives were meant to be their shield, pooling resources and negotiating price.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digital tools they stay as fragmented as the individuals they serve.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registers, no real-time data, no combined loom capacity for big orders.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weaver who weaves the world's silk remains invisible to the world's markets.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818120" y="1508760"/>
            <a:ext cx="3840480" cy="2331720"/>
          </a:xfrm>
          <a:prstGeom prst="roundRect">
            <a:avLst>
              <a:gd name="adj" fmla="val 3137"/>
            </a:avLst>
          </a:prstGeom>
          <a:solidFill>
            <a:srgbClr val="E6D9BC"/>
          </a:solidFill>
          <a:ln w="12700">
            <a:solidFill>
              <a:srgbClr val="A8553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486900" y="1673352"/>
            <a:ext cx="502920" cy="502920"/>
          </a:xfrm>
          <a:prstGeom prst="ellipse">
            <a:avLst/>
          </a:prstGeom>
          <a:solidFill>
            <a:srgbClr val="A8553C"/>
          </a:solidFill>
          <a:ln/>
        </p:spPr>
      </p:sp>
      <p:sp>
        <p:nvSpPr>
          <p:cNvPr id="9" name="Text 7"/>
          <p:cNvSpPr/>
          <p:nvPr/>
        </p:nvSpPr>
        <p:spPr>
          <a:xfrm>
            <a:off x="948690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8001000" y="2231136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weaver's hands at the loom, split against the saree glowing in a showroom window.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001000" y="35478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VISUAL SLOT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818120" y="397764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ysDot"/>
          </a:ln>
        </p:spPr>
      </p:sp>
      <p:sp>
        <p:nvSpPr>
          <p:cNvPr id="13" name="Text 11"/>
          <p:cNvSpPr/>
          <p:nvPr/>
        </p:nvSpPr>
        <p:spPr>
          <a:xfrm>
            <a:off x="8046720" y="41148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wear her art, but you don't know her name. You inherit her legacy, but you erase her share.”</a:t>
            </a:r>
            <a:endParaRPr lang="en-US" sz="12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unspoken truth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5806440"/>
            <a:ext cx="7040880" cy="777240"/>
          </a:xfrm>
          <a:prstGeom prst="roundRect">
            <a:avLst>
              <a:gd name="adj" fmla="val 7059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870448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 </a:t>
            </a:r>
            <a:pPr indent="0" marL="0">
              <a:buNone/>
            </a:pPr>
            <a:r>
              <a:rPr lang="en-US" sz="95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platform empowering cooperatives to manage operations, connect members, and strengthen collective bargaining — through collaboration, transparency, bulk procurement, market linkages, and data-driven decisions.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13739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3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777240" cy="777240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5EE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37392" y="320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एकत्व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Thread — Why Existing Solutions Fail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5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craft has heritage, skill, and demand. What it lacks is a warp to hold it together.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strong strands: heritage, skill, global demand — but a broken warp.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unity ties cooperatives together across a district, let alone a state.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Weavers buy raw silk alone at retail rates, then sell alone through middlemen at low margins.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platforms stitch only the last inch — an online storefront.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digitise the cooperative's internal life: member records, indents, job assignment, wage calculation.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rarely work offline, rarely speak the weaver's language, and never enable collective bargaining.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found: nothing digitises the entire cooperative lifecycle.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first thread of raw silk to the final stitch of a sold saree — and turns that data into market voice.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35240" y="1508760"/>
            <a:ext cx="4023360" cy="4160520"/>
          </a:xfrm>
          <a:prstGeom prst="roundRect">
            <a:avLst>
              <a:gd name="adj" fmla="val 1818"/>
            </a:avLst>
          </a:prstGeom>
          <a:solidFill>
            <a:srgbClr val="E6D9BC"/>
          </a:solidFill>
          <a:ln w="12700">
            <a:solidFill>
              <a:srgbClr val="A8553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818120" y="1691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ONLY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4692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COOP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6B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366760" y="2331720"/>
            <a:ext cx="640080" cy="640080"/>
          </a:xfrm>
          <a:prstGeom prst="ellipse">
            <a:avLst/>
          </a:prstGeom>
          <a:solidFill>
            <a:srgbClr val="A8553C"/>
          </a:solidFill>
          <a:ln/>
        </p:spPr>
      </p:sp>
      <p:sp>
        <p:nvSpPr>
          <p:cNvPr id="11" name="Shape 9"/>
          <p:cNvSpPr/>
          <p:nvPr/>
        </p:nvSpPr>
        <p:spPr>
          <a:xfrm>
            <a:off x="10195560" y="2331720"/>
            <a:ext cx="640080" cy="640080"/>
          </a:xfrm>
          <a:prstGeom prst="ellipse">
            <a:avLst/>
          </a:prstGeom>
          <a:solidFill>
            <a:srgbClr val="6B7A52"/>
          </a:solidFill>
          <a:ln/>
        </p:spPr>
      </p:sp>
      <p:sp>
        <p:nvSpPr>
          <p:cNvPr id="12" name="Text 10"/>
          <p:cNvSpPr/>
          <p:nvPr/>
        </p:nvSpPr>
        <p:spPr>
          <a:xfrm>
            <a:off x="7818120" y="315468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listing only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member data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offline mode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collective bidding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46920" y="31546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lifecycle digitised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+ multilingual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Offline-first PWA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Coalition bargaining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18120" y="4892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contrast diagram — “E-commerce only” vs. “Full Cooperative Digitalisation”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5806440"/>
            <a:ext cx="6949440" cy="822960"/>
          </a:xfrm>
          <a:prstGeom prst="roundRect">
            <a:avLst>
              <a:gd name="adj" fmla="val 8889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731520" y="59436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“Alone we are a single thread. Together we are a fabric that can cover the world.”</a:t>
            </a:r>
            <a:endParaRPr lang="en-US" sz="12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Ekatva design principle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3739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777240" cy="777240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5EE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37392" y="320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एकत्व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Answer — Ekatva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reveal: eight modules, woven into one loom.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6858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Ekatva (एकत्व, “unity”) — a mobile-first, multilingual, offline-capable PWA.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on any smartphone with no app store; keeps working when the internet fails.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Hindi, English, and Bengali; transforms scattered cooperatives into one enterprise.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 weave together, each answering the problem statement directly: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Member Ecosystem · Collective Bulk Procurement · Production &amp; QC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Payment Ledger · Coalition Market Linkages · QR Fair-Wage Traceability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Matchmaker · Voice Assistant “Job Sakhi”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56132" y="4617720"/>
            <a:ext cx="585216" cy="585216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6132" y="4617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5239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7772" y="4617720"/>
            <a:ext cx="585216" cy="585216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7772" y="4617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5239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39412" y="4617720"/>
            <a:ext cx="585216" cy="585216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9412" y="4617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86200" y="5239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QC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31052" y="4617720"/>
            <a:ext cx="585216" cy="585216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1052" y="4617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52395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56132" y="5669280"/>
            <a:ext cx="585216" cy="585216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6132" y="5669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62910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Coalition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7772" y="5669280"/>
            <a:ext cx="585216" cy="585216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7772" y="5669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62910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39412" y="5669280"/>
            <a:ext cx="585216" cy="585216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9412" y="5669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86200" y="62910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31052" y="5669280"/>
            <a:ext cx="585216" cy="585216"/>
          </a:xfrm>
          <a:prstGeom prst="ellipse">
            <a:avLst/>
          </a:prstGeom>
          <a:solidFill>
            <a:srgbClr val="C08A2E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31052" y="5669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62910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Sakhi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635240" y="15087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2C1F16"/>
          </a:solidFill>
          <a:ln w="9525">
            <a:solidFill>
              <a:srgbClr val="C08A2E"/>
            </a:solidFill>
            <a:prstDash val="sysDot"/>
          </a:ln>
        </p:spPr>
      </p:sp>
      <p:sp>
        <p:nvSpPr>
          <p:cNvPr id="32" name="Text 30"/>
          <p:cNvSpPr/>
          <p:nvPr/>
        </p:nvSpPr>
        <p:spPr>
          <a:xfrm>
            <a:off x="7863840" y="1645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“Technology is the loom on which we weave our collective future.”</a:t>
            </a:r>
            <a:endParaRPr lang="en-US" sz="12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Ekatva team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635240" y="292608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352418"/>
          </a:solidFill>
          <a:ln w="12700">
            <a:solidFill>
              <a:srgbClr val="C08A2E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9395460" y="3090672"/>
            <a:ext cx="502920" cy="50292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5" name="Text 33"/>
          <p:cNvSpPr/>
          <p:nvPr/>
        </p:nvSpPr>
        <p:spPr>
          <a:xfrm>
            <a:off x="939546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7818120" y="3648456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dashboard, or a circular diagram of the 8 modules around the cooperative core.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18120" y="5376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VISUAL SLOT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13739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3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777240" cy="777240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5EE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37392" y="320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एकत्व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Deep-Dive — Coalition Capacity Engine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5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core innovation for collective bargaining.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20 looms cannot bid for a 1,000-piece export order alone.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exploit exactly this fragmentation, order after order.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engine's logic, explained simply: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 submits an RFQ; the engine scans every registered cooperative's looms, workload, skill tags, and deadline.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computes remaining capacity from live Firestore data and forms a temporary coalition, allocating quotas optimally.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one unified, competitive quote — five small co-ops become one credible mega-supplier.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25–35% higher price realisation vs. individual middleman-mediated sales.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collective bargaining, automated, transparent, and scalable for the first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35240" y="150876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E6D9BC"/>
          </a:solidFill>
          <a:ln w="12700">
            <a:solidFill>
              <a:srgbClr val="A8553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395460" y="1673352"/>
            <a:ext cx="502920" cy="502920"/>
          </a:xfrm>
          <a:prstGeom prst="ellipse">
            <a:avLst/>
          </a:prstGeom>
          <a:solidFill>
            <a:srgbClr val="A8553C"/>
          </a:solidFill>
          <a:ln/>
        </p:spPr>
      </p:sp>
      <p:sp>
        <p:nvSpPr>
          <p:cNvPr id="9" name="Text 7"/>
          <p:cNvSpPr/>
          <p:nvPr/>
        </p:nvSpPr>
        <p:spPr>
          <a:xfrm>
            <a:off x="939546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818120" y="2231136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“Market Opportunities” screen showing capacity calculation and the “Join Coalition” button, plus an engine flow diagram.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818120" y="40507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VISUAL SLOT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635240" y="45262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ysDot"/>
          </a:ln>
        </p:spPr>
      </p:sp>
      <p:sp>
        <p:nvSpPr>
          <p:cNvPr id="13" name="Text 11"/>
          <p:cNvSpPr/>
          <p:nvPr/>
        </p:nvSpPr>
        <p:spPr>
          <a:xfrm>
            <a:off x="7863840" y="4663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“Coming together is a beginning; keeping together is progress; working together is success.”</a:t>
            </a:r>
            <a:endParaRPr lang="en-US" sz="12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Henry Ford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13739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3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777240" cy="777240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5EE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37392" y="320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एकत्व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Deep-Dive — Job Sakhi, the Voice Assistant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5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Inclusion is not an afterthought here; it is the foundation.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6949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weavers are low-literate — text-heavy apps become barriers, not bridges.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Sakhi runs entirely on the Web Speech API; no external dependency, works on basic smartphones.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“Job Sakhi, Banarasi saree shuru karo” — spoken, understood, actioned.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updates the Firestore job card status and replies aloud: “Aapka job shuru ho gaya hai.”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Supported: start job, complete job, check earnings, mark attendance, hear latest notices.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— Hindi, English, Bengali — switchable from a wooden-style language toggle.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 beneath the warmth: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SpeechRecognition for voice in, SpeechSynthesis for spoken feedback.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parser with synonyms in all three languages, stored in i18next JSON files — a new language is just a new file.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35240" y="150876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6D9BC"/>
          </a:solidFill>
          <a:ln w="12700">
            <a:solidFill>
              <a:srgbClr val="A8553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395460" y="1673352"/>
            <a:ext cx="502920" cy="502920"/>
          </a:xfrm>
          <a:prstGeom prst="ellipse">
            <a:avLst/>
          </a:prstGeom>
          <a:solidFill>
            <a:srgbClr val="A8553C"/>
          </a:solidFill>
          <a:ln/>
        </p:spPr>
      </p:sp>
      <p:sp>
        <p:nvSpPr>
          <p:cNvPr id="9" name="Text 7"/>
          <p:cNvSpPr/>
          <p:nvPr/>
        </p:nvSpPr>
        <p:spPr>
          <a:xfrm>
            <a:off x="939546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818120" y="2231136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mic button with pulse animation, recognised-speech bubble, and the language switcher.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818120" y="4233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VISUAL SLOT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635240" y="47091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ysDot"/>
          </a:ln>
        </p:spPr>
      </p:sp>
      <p:sp>
        <p:nvSpPr>
          <p:cNvPr id="13" name="Text 11"/>
          <p:cNvSpPr/>
          <p:nvPr/>
        </p:nvSpPr>
        <p:spPr>
          <a:xfrm>
            <a:off x="7863840" y="4846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“Speak, and the loom shall listen.”</a:t>
            </a:r>
            <a:endParaRPr lang="en-US" sz="12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Ekatva design ethos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13739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3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777240" cy="777240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5EE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37392" y="320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एकत्व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Deep-Dive — QR Traceability &amp; Fair-Wage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5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carry stories; we make those stories visible and verifiable.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6949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QC passes, a unique QR code is generated and attached to the product.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it opens a public page: weaver's name and photo (with consent), product, cooperative.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timestamped timeline — yarn issued → weaving started → completed → QC passed.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fair-wage breakdown, e.g. “Weaver earned ₹3,200 of ₹8,000 (40%)” — shown as a colourful ring.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protected by a lightweight SHA-256 hash-chain.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step's hash includes the previous step's hash — tamper it, and the chain visibly breaks.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ethical buyers get verifiable proof of fair trade.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Weavers command a premium for authenticated dignity, not just authenticated silk.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35240" y="150876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6D9BC"/>
          </a:solidFill>
          <a:ln w="12700">
            <a:solidFill>
              <a:srgbClr val="A8553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395460" y="1673352"/>
            <a:ext cx="502920" cy="502920"/>
          </a:xfrm>
          <a:prstGeom prst="ellipse">
            <a:avLst/>
          </a:prstGeom>
          <a:solidFill>
            <a:srgbClr val="A8553C"/>
          </a:solidFill>
          <a:ln/>
        </p:spPr>
      </p:sp>
      <p:sp>
        <p:nvSpPr>
          <p:cNvPr id="9" name="Text 7"/>
          <p:cNvSpPr/>
          <p:nvPr/>
        </p:nvSpPr>
        <p:spPr>
          <a:xfrm>
            <a:off x="939546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818120" y="2231136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on a physical job card, beside the public trace page with timeline and wage ring.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818120" y="4233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VISUAL SLOT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635240" y="47091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ysDot"/>
          </a:ln>
        </p:spPr>
      </p:sp>
      <p:sp>
        <p:nvSpPr>
          <p:cNvPr id="13" name="Text 11"/>
          <p:cNvSpPr/>
          <p:nvPr/>
        </p:nvSpPr>
        <p:spPr>
          <a:xfrm>
            <a:off x="7863840" y="4846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product with a story is no longer a commodity; it is a legacy.”</a:t>
            </a:r>
            <a:endParaRPr lang="en-US" sz="12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Ekatva team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13739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3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777240" cy="777240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5EE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37392" y="320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एकत्व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Innovations — The Full Suite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5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rapid showcase of the remaining threads, each tied back to the problem statement.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01368"/>
            <a:ext cx="502920" cy="502920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7830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Reputation-Driven Credit Score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0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 on-time delivery &amp; QC pass rate; decays on rejection or delay.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0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 unlocks larger raw-material advances — no physical collateral needed.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801368"/>
            <a:ext cx="502920" cy="502920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17830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Procurement Advisor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0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pending job cards, stock, and seasonal demand.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0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bulk-buy windows — a projected 15–20% raw material saving.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4041648"/>
            <a:ext cx="502920" cy="502920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4041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4023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Scheme Matchmaker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6177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0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 count, volume &amp; certifications against India Handloom Brand, GeM, MUDRA, PM-MITRA.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0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“Download Pre-filled Application.”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7648" y="4041648"/>
            <a:ext cx="502920" cy="502920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4041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0" y="4023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Progressive Web App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6177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0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persistence caches data locally; a service worker caches the app shell.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0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cards updated offline sync automatically the moment connectivity returns.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5806440"/>
            <a:ext cx="10241280" cy="777240"/>
          </a:xfrm>
          <a:prstGeom prst="roundRect">
            <a:avLst>
              <a:gd name="adj" fmla="val 9412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ysDot"/>
          </a:ln>
        </p:spPr>
      </p:sp>
      <p:sp>
        <p:nvSpPr>
          <p:cNvPr id="27" name="Text 25"/>
          <p:cNvSpPr/>
          <p:nvPr/>
        </p:nvSpPr>
        <p:spPr>
          <a:xfrm>
            <a:off x="731520" y="59436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measured is treasured. What is transparent is trusted.”</a:t>
            </a:r>
            <a:endParaRPr lang="en-US" sz="12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Ekatva team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3739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777240" cy="777240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5EE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37392" y="320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एकत्व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Soul — Built for the Loom, Not Just the Cloud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tech choice here is intentional, empathetic, and robust.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68580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(Vite) + Tailwind + shadcn/ui + Framer Motion.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 handloom theme — terracotta, cream, gold; Playfair Display &amp; Lora fonts; ikat-pattern backdrops.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feels like touching fabric: cards lift on hover, buttons press like clay, pages weave between transitions.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Firebase — Auth, Firestore, Storage; serverless and autoscaling.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offline persistence (IndexedDB) means zero-connectivity still works; queued writes sync later.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 rules — a weaver sees only her data; a secretary manages only her cooperative.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language, and trust — kept lightweight by design.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API, entirely on-device, no external voice service.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for multilingual strings; a SHA-256 hash-chain locks each production step to the last.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35240" y="150876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352418"/>
          </a:solidFill>
          <a:ln w="12700">
            <a:solidFill>
              <a:srgbClr val="C08A2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395460" y="1673352"/>
            <a:ext cx="502920" cy="50292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9" name="Text 7"/>
          <p:cNvSpPr/>
          <p:nvPr/>
        </p:nvSpPr>
        <p:spPr>
          <a:xfrm>
            <a:off x="939546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818120" y="2231136"/>
            <a:ext cx="3657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— PWA on a phone, Firebase cloud, offline-sync loop, with icons for voice, hash-chain, and i18n.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818120" y="56967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VISUAL SLOT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6858000" cy="594360"/>
          </a:xfrm>
          <a:prstGeom prst="roundRect">
            <a:avLst>
              <a:gd name="adj" fmla="val 12308"/>
            </a:avLst>
          </a:prstGeom>
          <a:solidFill>
            <a:srgbClr val="2C1F16"/>
          </a:solidFill>
          <a:ln w="9525">
            <a:solidFill>
              <a:srgbClr val="C08A2E"/>
            </a:solidFill>
            <a:prstDash val="sysDot"/>
          </a:ln>
        </p:spPr>
      </p:sp>
      <p:sp>
        <p:nvSpPr>
          <p:cNvPr id="13" name="Text 11"/>
          <p:cNvSpPr/>
          <p:nvPr/>
        </p:nvSpPr>
        <p:spPr>
          <a:xfrm>
            <a:off x="731520" y="6126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“Simplicity is the ultimate sophistication.”</a:t>
            </a:r>
            <a:endParaRPr lang="en-US" sz="12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Leonardo da Vinci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13739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3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777240" cy="777240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5EE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37392" y="320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एकत्व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of a Saree — Demo Storyboard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5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11-step live demo, showing how every module interlaces with the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655064"/>
            <a:ext cx="384048" cy="384048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600200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 registers Radhika, posts a notice.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02920" y="2587752"/>
            <a:ext cx="384048" cy="384048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8408" y="2532888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Radhika requests silk yarn by voice; request appears in procurement.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384048" cy="384048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8408" y="3465576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 consolidates indents; bulk order placed, stock updated.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02920" y="4453128"/>
            <a:ext cx="384048" cy="384048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4398264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card created for a Banarasi saree; yarn issued.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02920" y="5385816"/>
            <a:ext cx="384048" cy="384048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8408" y="5330952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Radhika starts and completes the job via Job Sakhi; status updates live.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02920" y="6318504"/>
            <a:ext cx="384048" cy="384048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318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408" y="6263640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passes; wage auto-calculated; QR code generated.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069080" y="1655064"/>
            <a:ext cx="384048" cy="384048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44568" y="1600200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browses the storefront; submits an RFQ for 500 sarees.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4069080" y="2587752"/>
            <a:ext cx="384048" cy="384048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6908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44568" y="2532888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Coalition engine scans capacities, forms a 3-cooperative alliance, sends one quote.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069080" y="3520440"/>
            <a:ext cx="384048" cy="384048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690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44568" y="3465576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accepts; QR scanned; trace page reveals Radhika's 40% fair wage.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4069080" y="4453128"/>
            <a:ext cx="384048" cy="384048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6908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44568" y="4398264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drops — Radhika marks a job complete offline; it syncs once back online.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069080" y="5385816"/>
            <a:ext cx="384048" cy="384048"/>
          </a:xfrm>
          <a:prstGeom prst="ellipse">
            <a:avLst/>
          </a:prstGeom>
          <a:solidFill>
            <a:srgbClr val="A8553C"/>
          </a:solidFill>
          <a:ln w="12700">
            <a:solidFill>
              <a:srgbClr val="C08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9080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44568" y="5330952"/>
            <a:ext cx="2926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matchmaker checks cooperative data; shows MUDRA loan eligibility, pre-filled.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8275320" y="160020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E6D9BC"/>
          </a:solidFill>
          <a:ln w="12700">
            <a:solidFill>
              <a:srgbClr val="A8553C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9738360" y="1764792"/>
            <a:ext cx="502920" cy="502920"/>
          </a:xfrm>
          <a:prstGeom prst="ellipse">
            <a:avLst/>
          </a:prstGeom>
          <a:solidFill>
            <a:srgbClr val="A8553C"/>
          </a:solidFill>
          <a:ln/>
        </p:spPr>
      </p:sp>
      <p:sp>
        <p:nvSpPr>
          <p:cNvPr id="41" name="Text 39"/>
          <p:cNvSpPr/>
          <p:nvPr/>
        </p:nvSpPr>
        <p:spPr>
          <a:xfrm>
            <a:off x="9738360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8458200" y="2322576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layout of 6–8 key screenshots numbered 1–11, or a horizontal timeline infographic.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458200" y="528523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VISUAL SLOT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02920" y="5852160"/>
            <a:ext cx="11201400" cy="731520"/>
          </a:xfrm>
          <a:prstGeom prst="roundRect">
            <a:avLst>
              <a:gd name="adj" fmla="val 10000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ysDot"/>
          </a:ln>
        </p:spPr>
      </p:sp>
      <p:sp>
        <p:nvSpPr>
          <p:cNvPr id="45" name="Text 43"/>
          <p:cNvSpPr/>
          <p:nvPr/>
        </p:nvSpPr>
        <p:spPr>
          <a:xfrm>
            <a:off x="731520" y="5989320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“From her voice to the world's screen — that is the arc of dignity we are building.”</a:t>
            </a:r>
            <a:endParaRPr lang="en-US" sz="12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Ekatva team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113739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3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777240" cy="777240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5EE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37392" y="320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एकत्व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— Numbers and Heart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5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quantify the change, then anchor it back to Radhika's story.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92808" y="1764792"/>
            <a:ext cx="512064" cy="512064"/>
          </a:xfrm>
          <a:prstGeom prst="ellipse">
            <a:avLst/>
          </a:prstGeom>
          <a:solidFill>
            <a:srgbClr val="A8553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13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cost ↓ via collective indenting &amp; predictive buying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0" y="160020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64792"/>
            <a:ext cx="512064" cy="512064"/>
          </a:xfrm>
          <a:prstGeom prst="ellipse">
            <a:avLst/>
          </a:prstGeom>
          <a:solidFill>
            <a:srgbClr val="A8553C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2313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51960" y="2834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weaver price realisation ↑ via coalition bidding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43800" y="160020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E2D5B4"/>
          </a:solidFill>
          <a:ln w="9525">
            <a:solidFill>
              <a:srgbClr val="A855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33688" y="1764792"/>
            <a:ext cx="512064" cy="512064"/>
          </a:xfrm>
          <a:prstGeom prst="ellipse">
            <a:avLst/>
          </a:prstGeom>
          <a:solidFill>
            <a:srgbClr val="A8553C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2313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772400" y="2834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time ↓ as digital replaces paper registers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6949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identity — a digital passbook for every weaver.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earnings and advances; the reliability score becomes a stepping stone to formal credit.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MUDRA loans, bank accounts, insurance — grants once invisible are now findable.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Bef>
                <a:spcPts val="800"/>
              </a:spcBef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3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Dignity restored, not charity delivered.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Radhika's name, photo, and wage percentage travel with her saree.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 in London sees her face and knows she was paid fairly — market-driven respect.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635240" y="370332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E6D9BC"/>
          </a:solidFill>
          <a:ln w="12700">
            <a:solidFill>
              <a:srgbClr val="A8553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395460" y="3867912"/>
            <a:ext cx="502920" cy="502920"/>
          </a:xfrm>
          <a:prstGeom prst="ellipse">
            <a:avLst/>
          </a:prstGeom>
          <a:solidFill>
            <a:srgbClr val="A8553C"/>
          </a:solidFill>
          <a:ln/>
        </p:spPr>
      </p:sp>
      <p:sp>
        <p:nvSpPr>
          <p:cNvPr id="21" name="Text 19"/>
          <p:cNvSpPr/>
          <p:nvPr/>
        </p:nvSpPr>
        <p:spPr>
          <a:xfrm>
            <a:off x="939546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818120" y="4425696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Three-column impact infographic — Income, Efficiency, Dignity — plus a large fair-wage percentage ring.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18120" y="6062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A85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VISUAL SLOT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13739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20040"/>
            <a:ext cx="777240" cy="777240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5EE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37392" y="320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एकत्व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The Bigger Weave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end with a soaring vision, and a thread that is only just beginning.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6766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350" b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phases — we are ready: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a real cooperative cluster in Varanasi or Bengal within 3 months.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UPI-based instant wage credits on QC pass.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Design Copilot — a trend-aware suggestion engine for motifs and colours.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spcAft>
                <a:spcPts val="200"/>
              </a:spcAft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product certificates on a public blockchain for a permanent craft identity.</a:t>
            </a:r>
            <a:endParaRPr lang="en-US" sz="1350" dirty="0"/>
          </a:p>
          <a:p>
            <a:pPr lvl="1" marL="355600" indent="-177800">
              <a:lnSpc>
                <a:spcPct val="105000"/>
              </a:lnSpc>
              <a:buSzPct val="100000"/>
              <a:buChar char="–"/>
            </a:pPr>
            <a:r>
              <a:rPr lang="en-US" sz="1100" dirty="0">
                <a:solidFill>
                  <a:srgbClr val="D8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other artisanal crafts — pottery, leatherwork, embroidery — same platform, same principle.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4526280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2C1F16"/>
          </a:solidFill>
          <a:ln w="9525">
            <a:solidFill>
              <a:srgbClr val="C08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Ekatva began with a single thread: the belief that technology should amplify the artisan, not replace her.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have built more than an app. We have built a loom for collective power.</a:t>
            </a:r>
            <a:endParaRPr lang="en-US" sz="1250" dirty="0"/>
          </a:p>
          <a:p>
            <a:pPr indent="0" marL="0">
              <a:buNone/>
            </a:pPr>
            <a:r>
              <a:rPr lang="en-US" sz="1250" b="1" i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weaver speaks, the market should listen. With Ekatva, it finally will.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C1F16"/>
          </a:solidFill>
          <a:ln w="9525">
            <a:solidFill>
              <a:srgbClr val="C08A2E"/>
            </a:solidFill>
            <a:prstDash val="sysDot"/>
          </a:ln>
        </p:spPr>
      </p:sp>
      <p:sp>
        <p:nvSpPr>
          <p:cNvPr id="10" name="Text 8"/>
          <p:cNvSpPr/>
          <p:nvPr/>
        </p:nvSpPr>
        <p:spPr>
          <a:xfrm>
            <a:off x="786384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future belongs to those who believe in the beauty of their dreams.”</a:t>
            </a:r>
            <a:endParaRPr lang="en-US" sz="12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Eleanor Roosevelt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35240" y="310896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352418"/>
          </a:solidFill>
          <a:ln w="12700">
            <a:solidFill>
              <a:srgbClr val="C08A2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395460" y="3273552"/>
            <a:ext cx="502920" cy="50292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939546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E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7818120" y="3831336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photo, contact details, prototype and GitHub URLs.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18120" y="56509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VISUAL SLOT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2920" y="6126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 &amp; Answers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3739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5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2026-07-17T14:07:52Z</dcterms:created>
  <dcterms:modified xsi:type="dcterms:W3CDTF">2026-07-17T14:07:52Z</dcterms:modified>
</cp:coreProperties>
</file>